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C4D6"/>
          </a:solidFill>
          <a:ln>
            <a:solidFill>
              <a:srgbClr val="45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38360" y="731520"/>
            <a:ext cx="1417320" cy="1417320"/>
          </a:xfrm>
          <a:prstGeom prst="ellipse">
            <a:avLst/>
          </a:prstGeom>
          <a:solidFill>
            <a:srgbClr val="142640"/>
          </a:solidFill>
          <a:ln>
            <a:solidFill>
              <a:srgbClr val="14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25328" y="1600200"/>
            <a:ext cx="658368" cy="658368"/>
          </a:xfrm>
          <a:prstGeom prst="ellipse">
            <a:avLst/>
          </a:prstGeom>
          <a:solidFill>
            <a:srgbClr val="45C4D6"/>
          </a:solidFill>
          <a:ln>
            <a:solidFill>
              <a:srgbClr val="45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1828800"/>
            <a:ext cx="411480" cy="411480"/>
          </a:xfrm>
          <a:prstGeom prst="ellipse">
            <a:avLst/>
          </a:prstGeom>
          <a:solidFill>
            <a:srgbClr val="2768AC"/>
          </a:solidFill>
          <a:ln>
            <a:solidFill>
              <a:srgbClr val="276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960120"/>
            <a:ext cx="128016" cy="4251960"/>
          </a:xfrm>
          <a:prstGeom prst="rect">
            <a:avLst/>
          </a:prstGeom>
          <a:solidFill>
            <a:srgbClr val="45C4D6"/>
          </a:solidFill>
          <a:ln>
            <a:solidFill>
              <a:srgbClr val="45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170432"/>
            <a:ext cx="8138160" cy="1417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3100" b="1">
                <a:solidFill>
                  <a:srgbClr val="F8FAFC"/>
                </a:solidFill>
                <a:latin typeface="Aptos"/>
              </a:defRPr>
            </a:pPr>
            <a:r>
              <a:t>Pneumonia Diagnosis</a:t>
            </a:r>
            <a:br/>
            <a:r>
              <a:t>Detection &amp; Localization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816352"/>
            <a:ext cx="62179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800" b="1">
                <a:solidFill>
                  <a:srgbClr val="45C4D6"/>
                </a:solidFill>
                <a:latin typeface="Aptos"/>
              </a:defRPr>
            </a:pPr>
            <a:r>
              <a:t>Custom CNN • Grad-CAM • IoU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310128"/>
            <a:ext cx="786384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00" b="0">
                <a:solidFill>
                  <a:srgbClr val="CBD8E5"/>
                </a:solidFill>
                <a:latin typeface="Aptos"/>
              </a:defRPr>
            </a:pPr>
            <a:r>
              <a:t>A from-scratch deep learning pipeline for Normal vs Lung Opacity chest X-rays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8992" y="4315968"/>
            <a:ext cx="4709160" cy="1005840"/>
          </a:xfrm>
          <a:prstGeom prst="roundRect">
            <a:avLst/>
          </a:prstGeom>
          <a:solidFill>
            <a:srgbClr val="142640"/>
          </a:solidFill>
          <a:ln>
            <a:solidFill>
              <a:srgbClr val="39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4507992"/>
            <a:ext cx="42062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Aptos"/>
              </a:defRPr>
            </a:pPr>
            <a:r>
              <a:t>Vidhwath S  •  PES2UG24AM182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818888"/>
            <a:ext cx="42062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0">
                <a:solidFill>
                  <a:srgbClr val="CAD6E3"/>
                </a:solidFill>
                <a:latin typeface="Aptos"/>
              </a:defRPr>
            </a:pPr>
            <a:r>
              <a:t>Varun C H  •  PES2UG24AM180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5669280"/>
            <a:ext cx="59436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0">
                <a:solidFill>
                  <a:srgbClr val="A8B8C9"/>
                </a:solidFill>
                <a:latin typeface="Aptos"/>
              </a:defRPr>
            </a:pPr>
            <a:r>
              <a:t>RSNA Pneumonia Detection 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6035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50" b="0">
                <a:solidFill>
                  <a:srgbClr val="A6B7C9"/>
                </a:solidFill>
                <a:latin typeface="Aptos"/>
              </a:defRPr>
            </a:pPr>
            <a:r>
              <a:t>UE24CS352A • Machine Learning Mini-Project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50" b="0">
                <a:solidFill>
                  <a:srgbClr val="A6B7C9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800" b="1">
                <a:solidFill>
                  <a:srgbClr val="0C182B"/>
                </a:solidFill>
                <a:latin typeface="Aptos"/>
              </a:defRPr>
            </a:pPr>
            <a:r>
              <a:t>What are we solving?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50" b="0">
                <a:solidFill>
                  <a:srgbClr val="5F6D7D"/>
                </a:solidFill>
                <a:latin typeface="Aptos"/>
              </a:defRPr>
            </a:pPr>
            <a:r>
              <a:t>Classification + weakly supervised localization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53312"/>
            <a:ext cx="10972800" cy="0"/>
          </a:xfrm>
          <a:prstGeom prst="line">
            <a:avLst/>
          </a:prstGeom>
          <a:ln w="12700">
            <a:solidFill>
              <a:srgbClr val="D0D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91640"/>
            <a:ext cx="6720840" cy="4206240"/>
          </a:xfrm>
          <a:prstGeom prst="roundRect">
            <a:avLst/>
          </a:prstGeom>
          <a:solidFill>
            <a:srgbClr val="F1F5F9"/>
          </a:solidFill>
          <a:ln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9144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2768AC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57607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000" b="1">
                <a:solidFill>
                  <a:srgbClr val="0C182B"/>
                </a:solidFill>
                <a:latin typeface="Aptos"/>
              </a:defRPr>
            </a:pPr>
            <a:r>
              <a:t>Build one pipeline that can answer two questions: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971800"/>
            <a:ext cx="502920" cy="502920"/>
          </a:xfrm>
          <a:prstGeom prst="ellipse">
            <a:avLst/>
          </a:prstGeom>
          <a:solidFill>
            <a:srgbClr val="2768AC"/>
          </a:solidFill>
          <a:ln>
            <a:solidFill>
              <a:srgbClr val="276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990088"/>
            <a:ext cx="502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953512"/>
            <a:ext cx="52120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700" b="1">
                <a:solidFill>
                  <a:srgbClr val="212B36"/>
                </a:solidFill>
                <a:latin typeface="Aptos"/>
              </a:defRPr>
            </a:pPr>
            <a:r>
              <a:t>Is the X-ray Normal or Lung Opacity?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749039"/>
            <a:ext cx="502920" cy="502920"/>
          </a:xfrm>
          <a:prstGeom prst="ellipse">
            <a:avLst/>
          </a:prstGeom>
          <a:solidFill>
            <a:srgbClr val="45C4D6"/>
          </a:solidFill>
          <a:ln>
            <a:solidFill>
              <a:srgbClr val="45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767328"/>
            <a:ext cx="502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0C182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730752"/>
            <a:ext cx="52120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700" b="1">
                <a:solidFill>
                  <a:srgbClr val="212B36"/>
                </a:solidFill>
                <a:latin typeface="Aptos"/>
              </a:defRPr>
            </a:pPr>
            <a:r>
              <a:t>Which image region drives the prediction?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617720"/>
            <a:ext cx="598932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773168"/>
            <a:ext cx="1554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5F6D7D"/>
                </a:solidFill>
                <a:latin typeface="Aptos"/>
              </a:defRPr>
            </a:pPr>
            <a:r>
              <a:t>Key design choice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4754880"/>
            <a:ext cx="40690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0C182B"/>
                </a:solidFill>
                <a:latin typeface="Aptos"/>
              </a:defRPr>
            </a:pPr>
            <a:r>
              <a:t>No pretrained model • trained from random initialization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1737360"/>
            <a:ext cx="2286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5F6D7D"/>
                </a:solidFill>
                <a:latin typeface="Aptos"/>
              </a:defRPr>
            </a:pPr>
            <a:r>
              <a:t>Pipeline idea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2240280"/>
            <a:ext cx="1417320" cy="868680"/>
          </a:xfrm>
          <a:prstGeom prst="roundRect">
            <a:avLst/>
          </a:prstGeom>
          <a:solidFill>
            <a:srgbClr val="2768AC"/>
          </a:solidFill>
          <a:ln>
            <a:solidFill>
              <a:srgbClr val="276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2505456"/>
            <a:ext cx="11887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Aptos"/>
              </a:defRPr>
            </a:pPr>
            <a:r>
              <a:t>X-ray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35440" y="2679192"/>
            <a:ext cx="338328" cy="0"/>
          </a:xfrm>
          <a:prstGeom prst="line">
            <a:avLst/>
          </a:prstGeom>
          <a:ln w="25400">
            <a:solidFill>
              <a:srgbClr val="5F6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9528048" y="2587752"/>
            <a:ext cx="164592" cy="182880"/>
          </a:xfrm>
          <a:prstGeom prst="triangle">
            <a:avLst/>
          </a:prstGeom>
          <a:solidFill>
            <a:srgbClr val="5F6D7D"/>
          </a:solidFill>
          <a:ln>
            <a:solidFill>
              <a:srgbClr val="5F6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01200" y="2240280"/>
            <a:ext cx="1417320" cy="868680"/>
          </a:xfrm>
          <a:prstGeom prst="roundRect">
            <a:avLst/>
          </a:prstGeom>
          <a:solidFill>
            <a:srgbClr val="0C182B"/>
          </a:solidFill>
          <a:ln>
            <a:solidFill>
              <a:srgbClr val="0C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0928" y="2505456"/>
            <a:ext cx="11887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Aptos"/>
              </a:defRPr>
            </a:pPr>
            <a:r>
              <a:t>Custom CNN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235440" y="2679192"/>
            <a:ext cx="0" cy="1069847"/>
          </a:xfrm>
          <a:prstGeom prst="line">
            <a:avLst/>
          </a:prstGeom>
          <a:ln w="25400">
            <a:solidFill>
              <a:srgbClr val="5F6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818120" y="3749039"/>
            <a:ext cx="1417320" cy="868680"/>
          </a:xfrm>
          <a:prstGeom prst="roundRect">
            <a:avLst/>
          </a:prstGeom>
          <a:solidFill>
            <a:srgbClr val="45C4D6"/>
          </a:solidFill>
          <a:ln>
            <a:solidFill>
              <a:srgbClr val="45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7848" y="4014215"/>
            <a:ext cx="11887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1">
                <a:solidFill>
                  <a:srgbClr val="0C182B"/>
                </a:solidFill>
                <a:latin typeface="Aptos"/>
              </a:defRPr>
            </a:pPr>
            <a:r>
              <a:t>Grad-CAM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235440" y="4178808"/>
            <a:ext cx="338328" cy="0"/>
          </a:xfrm>
          <a:prstGeom prst="line">
            <a:avLst/>
          </a:prstGeom>
          <a:ln w="25400">
            <a:solidFill>
              <a:srgbClr val="5F6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601200" y="3749039"/>
            <a:ext cx="1417320" cy="868680"/>
          </a:xfrm>
          <a:prstGeom prst="roundRect">
            <a:avLst/>
          </a:prstGeom>
          <a:solidFill>
            <a:srgbClr val="2B8B63"/>
          </a:solidFill>
          <a:ln>
            <a:solidFill>
              <a:srgbClr val="2B8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10928" y="4014215"/>
            <a:ext cx="11887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Aptos"/>
              </a:defRPr>
            </a:pPr>
            <a:r>
              <a:t>Box + IoU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6035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50" b="0">
                <a:solidFill>
                  <a:srgbClr val="5F6D7D"/>
                </a:solidFill>
                <a:latin typeface="Aptos"/>
              </a:defRPr>
            </a:pPr>
            <a:r>
              <a:t>UE24CS352A • Machine Learning Mini-Project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50" b="0">
                <a:solidFill>
                  <a:srgbClr val="5F6D7D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800" b="1">
                <a:solidFill>
                  <a:srgbClr val="0C182B"/>
                </a:solidFill>
                <a:latin typeface="Aptos"/>
              </a:defRPr>
            </a:pPr>
            <a:r>
              <a:t>Dataset &amp; 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50" b="0">
                <a:solidFill>
                  <a:srgbClr val="5F6D7D"/>
                </a:solidFill>
                <a:latin typeface="Aptos"/>
              </a:defRPr>
            </a:pPr>
            <a:r>
              <a:t>Balanced subset from the RSNA Pneumonia Detection Challenge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53312"/>
            <a:ext cx="10972800" cy="0"/>
          </a:xfrm>
          <a:prstGeom prst="line">
            <a:avLst/>
          </a:prstGeom>
          <a:ln w="12700">
            <a:solidFill>
              <a:srgbClr val="D0D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45920"/>
            <a:ext cx="2788920" cy="4251960"/>
          </a:xfrm>
          <a:prstGeom prst="roundRect">
            <a:avLst/>
          </a:prstGeom>
          <a:solidFill>
            <a:srgbClr val="0C182B"/>
          </a:solidFill>
          <a:ln>
            <a:solidFill>
              <a:srgbClr val="0C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93392"/>
            <a:ext cx="219456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3400" b="1">
                <a:solidFill>
                  <a:srgbClr val="F8FAFC"/>
                </a:solidFill>
                <a:latin typeface="Aptos"/>
              </a:defRPr>
            </a:pPr>
            <a:r>
              <a:t>2,000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06040"/>
            <a:ext cx="21945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0">
                <a:solidFill>
                  <a:srgbClr val="C8D7E5"/>
                </a:solidFill>
                <a:latin typeface="Aptos"/>
              </a:defRPr>
            </a:pPr>
            <a:r>
              <a:t>images selected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3127248"/>
            <a:ext cx="1965960" cy="0"/>
          </a:xfrm>
          <a:prstGeom prst="line">
            <a:avLst/>
          </a:prstGeom>
          <a:ln w="19050">
            <a:solidFill>
              <a:srgbClr val="45C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32688" y="3429000"/>
            <a:ext cx="9144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000" b="1">
                <a:solidFill>
                  <a:srgbClr val="45C4D6"/>
                </a:solidFill>
                <a:latin typeface="Aptos"/>
              </a:defRPr>
            </a:pPr>
            <a:r>
              <a:t>1,000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447288"/>
            <a:ext cx="12344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Normal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931920"/>
            <a:ext cx="9144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000" b="1">
                <a:solidFill>
                  <a:srgbClr val="45C4D6"/>
                </a:solidFill>
                <a:latin typeface="Aptos"/>
              </a:defRPr>
            </a:pPr>
            <a:r>
              <a:t>1,000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950208"/>
            <a:ext cx="1371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Lung Opacity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663440"/>
            <a:ext cx="224028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0">
                <a:solidFill>
                  <a:srgbClr val="B8C9DA"/>
                </a:solidFill>
                <a:latin typeface="Aptos"/>
              </a:defRPr>
            </a:pPr>
            <a:r>
              <a:t>Duplicate patient IDs removed</a:t>
            </a:r>
            <a:br/>
            <a:r>
              <a:t>before sampling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1737360"/>
            <a:ext cx="9144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5F6D7D"/>
                </a:solidFill>
                <a:latin typeface="Aptos"/>
              </a:defRPr>
            </a:pPr>
            <a:r>
              <a:t>Split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2148840"/>
            <a:ext cx="2121408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86200" y="2148840"/>
            <a:ext cx="109728" cy="1280160"/>
          </a:xfrm>
          <a:prstGeom prst="rect">
            <a:avLst/>
          </a:prstGeom>
          <a:solidFill>
            <a:srgbClr val="2768AC"/>
          </a:solidFill>
          <a:ln>
            <a:solidFill>
              <a:srgbClr val="276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42232" y="2395728"/>
            <a:ext cx="1600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5F6D7D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42232" y="2743200"/>
            <a:ext cx="15544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400" b="1">
                <a:solidFill>
                  <a:srgbClr val="0C182B"/>
                </a:solidFill>
                <a:latin typeface="Aptos"/>
              </a:defRPr>
            </a:pPr>
            <a:r>
              <a:t>1,400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2148840"/>
            <a:ext cx="2121408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1928" y="2148840"/>
            <a:ext cx="109728" cy="1280160"/>
          </a:xfrm>
          <a:prstGeom prst="rect">
            <a:avLst/>
          </a:prstGeom>
          <a:solidFill>
            <a:srgbClr val="45C4D6"/>
          </a:solidFill>
          <a:ln>
            <a:solidFill>
              <a:srgbClr val="45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395728"/>
            <a:ext cx="1600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5F6D7D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743200"/>
            <a:ext cx="15544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400" b="1">
                <a:solidFill>
                  <a:srgbClr val="0C182B"/>
                </a:solidFill>
                <a:latin typeface="Aptos"/>
              </a:defRPr>
            </a:pPr>
            <a:r>
              <a:t>300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77656" y="2148840"/>
            <a:ext cx="2121408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77656" y="2148840"/>
            <a:ext cx="109728" cy="1280160"/>
          </a:xfrm>
          <a:prstGeom prst="rect">
            <a:avLst/>
          </a:prstGeom>
          <a:solidFill>
            <a:srgbClr val="2B8B63"/>
          </a:solidFill>
          <a:ln>
            <a:solidFill>
              <a:srgbClr val="2B8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3688" y="2395728"/>
            <a:ext cx="1600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5F6D7D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3688" y="2743200"/>
            <a:ext cx="15544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400" b="1">
                <a:solidFill>
                  <a:srgbClr val="0C182B"/>
                </a:solidFill>
                <a:latin typeface="Aptos"/>
              </a:defRPr>
            </a:pPr>
            <a:r>
              <a:t>300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86200" y="3794760"/>
            <a:ext cx="7223760" cy="2103120"/>
          </a:xfrm>
          <a:prstGeom prst="roundRect">
            <a:avLst/>
          </a:prstGeom>
          <a:solidFill>
            <a:srgbClr val="E5F0FA"/>
          </a:solidFill>
          <a:ln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0520" y="4041648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2768AC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29" name="Oval 28"/>
          <p:cNvSpPr/>
          <p:nvPr/>
        </p:nvSpPr>
        <p:spPr>
          <a:xfrm>
            <a:off x="4160520" y="4526280"/>
            <a:ext cx="91440" cy="91440"/>
          </a:xfrm>
          <a:prstGeom prst="ellipse">
            <a:avLst/>
          </a:prstGeom>
          <a:solidFill>
            <a:srgbClr val="2768AC"/>
          </a:solidFill>
          <a:ln>
            <a:solidFill>
              <a:srgbClr val="276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0832" y="4462272"/>
            <a:ext cx="62179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0">
                <a:solidFill>
                  <a:srgbClr val="212B36"/>
                </a:solidFill>
                <a:latin typeface="Aptos"/>
              </a:defRPr>
            </a:pPr>
            <a:r>
              <a:t>DICOM → normalized intensity → RGB</a:t>
            </a:r>
          </a:p>
        </p:txBody>
      </p:sp>
      <p:sp>
        <p:nvSpPr>
          <p:cNvPr id="31" name="Oval 30"/>
          <p:cNvSpPr/>
          <p:nvPr/>
        </p:nvSpPr>
        <p:spPr>
          <a:xfrm>
            <a:off x="4160520" y="4837176"/>
            <a:ext cx="91440" cy="91440"/>
          </a:xfrm>
          <a:prstGeom prst="ellipse">
            <a:avLst/>
          </a:prstGeom>
          <a:solidFill>
            <a:srgbClr val="2768AC"/>
          </a:solidFill>
          <a:ln>
            <a:solidFill>
              <a:srgbClr val="276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70832" y="4773168"/>
            <a:ext cx="62179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0">
                <a:solidFill>
                  <a:srgbClr val="212B36"/>
                </a:solidFill>
                <a:latin typeface="Aptos"/>
              </a:defRPr>
            </a:pPr>
            <a:r>
              <a:t>Resize to 224 × 224</a:t>
            </a:r>
          </a:p>
        </p:txBody>
      </p:sp>
      <p:sp>
        <p:nvSpPr>
          <p:cNvPr id="33" name="Oval 32"/>
          <p:cNvSpPr/>
          <p:nvPr/>
        </p:nvSpPr>
        <p:spPr>
          <a:xfrm>
            <a:off x="4160520" y="5148072"/>
            <a:ext cx="91440" cy="91440"/>
          </a:xfrm>
          <a:prstGeom prst="ellipse">
            <a:avLst/>
          </a:prstGeom>
          <a:solidFill>
            <a:srgbClr val="2768AC"/>
          </a:solidFill>
          <a:ln>
            <a:solidFill>
              <a:srgbClr val="276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70832" y="5084064"/>
            <a:ext cx="62179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0">
                <a:solidFill>
                  <a:srgbClr val="212B36"/>
                </a:solidFill>
                <a:latin typeface="Aptos"/>
              </a:defRPr>
            </a:pPr>
            <a:r>
              <a:t>Train: horizontal flip + ±5° rotation</a:t>
            </a:r>
          </a:p>
        </p:txBody>
      </p:sp>
      <p:sp>
        <p:nvSpPr>
          <p:cNvPr id="35" name="Oval 34"/>
          <p:cNvSpPr/>
          <p:nvPr/>
        </p:nvSpPr>
        <p:spPr>
          <a:xfrm>
            <a:off x="4160520" y="5458968"/>
            <a:ext cx="91440" cy="91440"/>
          </a:xfrm>
          <a:prstGeom prst="ellipse">
            <a:avLst/>
          </a:prstGeom>
          <a:solidFill>
            <a:srgbClr val="2768AC"/>
          </a:solidFill>
          <a:ln>
            <a:solidFill>
              <a:srgbClr val="276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70832" y="5394960"/>
            <a:ext cx="62179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0">
                <a:solidFill>
                  <a:srgbClr val="212B36"/>
                </a:solidFill>
                <a:latin typeface="Aptos"/>
              </a:defRPr>
            </a:pPr>
            <a:r>
              <a:t>Mean / std normalization: 0.5 / 0.5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73952"/>
            <a:ext cx="6035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50" b="0">
                <a:solidFill>
                  <a:srgbClr val="5F6D7D"/>
                </a:solidFill>
                <a:latin typeface="Aptos"/>
              </a:defRPr>
            </a:pPr>
            <a:r>
              <a:t>UE24CS352A • Machine Learning Mini-Project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50" b="0">
                <a:solidFill>
                  <a:srgbClr val="5F6D7D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C4D6"/>
          </a:solidFill>
          <a:ln>
            <a:solidFill>
              <a:srgbClr val="45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Aptos"/>
              </a:defRPr>
            </a:pPr>
            <a:r>
              <a:t>Custom CNN — built from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50" b="0">
                <a:solidFill>
                  <a:srgbClr val="C1D0DF"/>
                </a:solidFill>
                <a:latin typeface="Aptos"/>
              </a:defRPr>
            </a:pPr>
            <a:r>
              <a:t>Four convolutional stages → global pooling → classifier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353312"/>
            <a:ext cx="10972800" cy="0"/>
          </a:xfrm>
          <a:prstGeom prst="line">
            <a:avLst/>
          </a:prstGeom>
          <a:ln w="12700">
            <a:solidFill>
              <a:srgbClr val="45C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2011680"/>
            <a:ext cx="1234440" cy="1143000"/>
          </a:xfrm>
          <a:prstGeom prst="roundRect">
            <a:avLst/>
          </a:prstGeom>
          <a:solidFill>
            <a:srgbClr val="2768AC"/>
          </a:solidFill>
          <a:ln>
            <a:solidFill>
              <a:srgbClr val="276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1" y="2240280"/>
            <a:ext cx="108813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1" y="2587752"/>
            <a:ext cx="1088136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0">
                <a:solidFill>
                  <a:srgbClr val="D6E1EC"/>
                </a:solidFill>
                <a:latin typeface="Aptos"/>
              </a:defRPr>
            </a:pPr>
            <a:r>
              <a:t>3 × 224 × 224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74519" y="2587752"/>
            <a:ext cx="256033" cy="0"/>
          </a:xfrm>
          <a:prstGeom prst="line">
            <a:avLst/>
          </a:prstGeom>
          <a:ln w="20320">
            <a:solidFill>
              <a:srgbClr val="93A6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85416" y="2011680"/>
            <a:ext cx="1051560" cy="1143000"/>
          </a:xfrm>
          <a:prstGeom prst="roundRect">
            <a:avLst/>
          </a:prstGeom>
          <a:solidFill>
            <a:srgbClr val="142640"/>
          </a:solidFill>
          <a:ln>
            <a:solidFill>
              <a:srgbClr val="4E6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58568" y="2240280"/>
            <a:ext cx="905255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Conv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8568" y="2587752"/>
            <a:ext cx="905255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0">
                <a:solidFill>
                  <a:srgbClr val="D6E1EC"/>
                </a:solidFill>
                <a:latin typeface="Aptos"/>
              </a:defRPr>
            </a:pPr>
            <a:r>
              <a:t>32 ch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36976" y="2587752"/>
            <a:ext cx="256032" cy="0"/>
          </a:xfrm>
          <a:prstGeom prst="line">
            <a:avLst/>
          </a:prstGeom>
          <a:ln w="20320">
            <a:solidFill>
              <a:srgbClr val="93A6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47872" y="2011680"/>
            <a:ext cx="1051560" cy="1143000"/>
          </a:xfrm>
          <a:prstGeom prst="roundRect">
            <a:avLst/>
          </a:prstGeom>
          <a:solidFill>
            <a:srgbClr val="142640"/>
          </a:solidFill>
          <a:ln>
            <a:solidFill>
              <a:srgbClr val="4E6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2240280"/>
            <a:ext cx="905255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Conv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2587752"/>
            <a:ext cx="905255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0">
                <a:solidFill>
                  <a:srgbClr val="D6E1EC"/>
                </a:solidFill>
                <a:latin typeface="Aptos"/>
              </a:defRPr>
            </a:pPr>
            <a:r>
              <a:t>64 ch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99431" y="2587752"/>
            <a:ext cx="256033" cy="0"/>
          </a:xfrm>
          <a:prstGeom prst="line">
            <a:avLst/>
          </a:prstGeom>
          <a:ln w="20320">
            <a:solidFill>
              <a:srgbClr val="93A6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910328" y="2011680"/>
            <a:ext cx="1051560" cy="1143000"/>
          </a:xfrm>
          <a:prstGeom prst="roundRect">
            <a:avLst/>
          </a:prstGeom>
          <a:solidFill>
            <a:srgbClr val="142640"/>
          </a:solidFill>
          <a:ln>
            <a:solidFill>
              <a:srgbClr val="4E6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2240280"/>
            <a:ext cx="905255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Conv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2587752"/>
            <a:ext cx="905255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0">
                <a:solidFill>
                  <a:srgbClr val="D6E1EC"/>
                </a:solidFill>
                <a:latin typeface="Aptos"/>
              </a:defRPr>
            </a:pPr>
            <a:r>
              <a:t>128 ch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61888" y="2587752"/>
            <a:ext cx="256032" cy="0"/>
          </a:xfrm>
          <a:prstGeom prst="line">
            <a:avLst/>
          </a:prstGeom>
          <a:ln w="20320">
            <a:solidFill>
              <a:srgbClr val="93A6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72784" y="2011680"/>
            <a:ext cx="1051560" cy="1143000"/>
          </a:xfrm>
          <a:prstGeom prst="roundRect">
            <a:avLst/>
          </a:prstGeom>
          <a:solidFill>
            <a:srgbClr val="142640"/>
          </a:solidFill>
          <a:ln>
            <a:solidFill>
              <a:srgbClr val="4E6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2240280"/>
            <a:ext cx="905255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Conv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2587752"/>
            <a:ext cx="905255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0">
                <a:solidFill>
                  <a:srgbClr val="D6E1EC"/>
                </a:solidFill>
                <a:latin typeface="Aptos"/>
              </a:defRPr>
            </a:pPr>
            <a:r>
              <a:t>256 ch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24344" y="2587752"/>
            <a:ext cx="256031" cy="0"/>
          </a:xfrm>
          <a:prstGeom prst="line">
            <a:avLst/>
          </a:prstGeom>
          <a:ln w="20320">
            <a:solidFill>
              <a:srgbClr val="93A6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635240" y="2011680"/>
            <a:ext cx="1234440" cy="1143000"/>
          </a:xfrm>
          <a:prstGeom prst="roundRect">
            <a:avLst/>
          </a:prstGeom>
          <a:solidFill>
            <a:srgbClr val="45C4D6"/>
          </a:solidFill>
          <a:ln>
            <a:solidFill>
              <a:srgbClr val="45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08392" y="2240280"/>
            <a:ext cx="108813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00" b="1">
                <a:solidFill>
                  <a:srgbClr val="0C182B"/>
                </a:solidFill>
                <a:latin typeface="Aptos"/>
              </a:defRPr>
            </a:pPr>
            <a:r>
              <a:t>GAP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08392" y="2587752"/>
            <a:ext cx="1088136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0">
                <a:solidFill>
                  <a:srgbClr val="0C182B"/>
                </a:solidFill>
                <a:latin typeface="Aptos"/>
              </a:defRPr>
            </a:pPr>
            <a:r>
              <a:t>1 × 1 × 256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869680" y="2587752"/>
            <a:ext cx="256031" cy="0"/>
          </a:xfrm>
          <a:prstGeom prst="line">
            <a:avLst/>
          </a:prstGeom>
          <a:ln w="20320">
            <a:solidFill>
              <a:srgbClr val="93A6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180576" y="2011680"/>
            <a:ext cx="1143000" cy="1143000"/>
          </a:xfrm>
          <a:prstGeom prst="roundRect">
            <a:avLst/>
          </a:prstGeom>
          <a:solidFill>
            <a:srgbClr val="DB8934"/>
          </a:solidFill>
          <a:ln>
            <a:solidFill>
              <a:srgbClr val="DB8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53728" y="2240280"/>
            <a:ext cx="99669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Dropout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3728" y="2587752"/>
            <a:ext cx="996696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0">
                <a:solidFill>
                  <a:srgbClr val="D6E1EC"/>
                </a:solidFill>
                <a:latin typeface="Aptos"/>
              </a:defRPr>
            </a:pPr>
            <a:r>
              <a:t>p = 0.5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323576" y="2587752"/>
            <a:ext cx="256031" cy="0"/>
          </a:xfrm>
          <a:prstGeom prst="line">
            <a:avLst/>
          </a:prstGeom>
          <a:ln w="20320">
            <a:solidFill>
              <a:srgbClr val="93A6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634472" y="2011680"/>
            <a:ext cx="1051560" cy="1143000"/>
          </a:xfrm>
          <a:prstGeom prst="roundRect">
            <a:avLst/>
          </a:prstGeom>
          <a:solidFill>
            <a:srgbClr val="2B8B63"/>
          </a:solidFill>
          <a:ln>
            <a:solidFill>
              <a:srgbClr val="2B8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07624" y="2240280"/>
            <a:ext cx="905255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FC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07624" y="2587752"/>
            <a:ext cx="905255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0">
                <a:solidFill>
                  <a:srgbClr val="D6E1EC"/>
                </a:solidFill>
                <a:latin typeface="Aptos"/>
              </a:defRPr>
            </a:pPr>
            <a:r>
              <a:t>2 classes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3886200"/>
            <a:ext cx="3429000" cy="1188720"/>
          </a:xfrm>
          <a:prstGeom prst="roundRect">
            <a:avLst/>
          </a:prstGeom>
          <a:solidFill>
            <a:srgbClr val="142640"/>
          </a:solidFill>
          <a:ln>
            <a:solidFill>
              <a:srgbClr val="37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4128" y="4123944"/>
            <a:ext cx="914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A6BCD1"/>
                </a:solidFill>
                <a:latin typeface="Aptos"/>
              </a:defRPr>
            </a:pPr>
            <a:r>
              <a:t>Training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" y="4453128"/>
            <a:ext cx="29260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Adam • LR 0.001 • 5 epochs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70832" y="3886200"/>
            <a:ext cx="3429000" cy="1188720"/>
          </a:xfrm>
          <a:prstGeom prst="roundRect">
            <a:avLst/>
          </a:prstGeom>
          <a:solidFill>
            <a:srgbClr val="142640"/>
          </a:solidFill>
          <a:ln>
            <a:solidFill>
              <a:srgbClr val="37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17720" y="4123944"/>
            <a:ext cx="914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A6BCD1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0" y="4453128"/>
            <a:ext cx="29260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Cross-Entropy Loss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73568" y="3886200"/>
            <a:ext cx="3429000" cy="1188720"/>
          </a:xfrm>
          <a:prstGeom prst="roundRect">
            <a:avLst/>
          </a:prstGeom>
          <a:solidFill>
            <a:srgbClr val="142640"/>
          </a:solidFill>
          <a:ln>
            <a:solidFill>
              <a:srgbClr val="37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0456" y="4123944"/>
            <a:ext cx="914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A6BCD1"/>
                </a:solidFill>
                <a:latin typeface="Aptos"/>
              </a:defRPr>
            </a:pPr>
            <a:r>
              <a:t>Constraint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0456" y="4453128"/>
            <a:ext cx="29260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45C4D6"/>
                </a:solidFill>
                <a:latin typeface="Aptos"/>
              </a:defRPr>
            </a:pPr>
            <a:r>
              <a:t>No pretrained weights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473952"/>
            <a:ext cx="6035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50" b="0">
                <a:solidFill>
                  <a:srgbClr val="A6B7C9"/>
                </a:solidFill>
                <a:latin typeface="Aptos"/>
              </a:defRPr>
            </a:pPr>
            <a:r>
              <a:t>UE24CS352A • Machine Learning Mini-Project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50" b="0">
                <a:solidFill>
                  <a:srgbClr val="A6B7C9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800" b="1">
                <a:solidFill>
                  <a:srgbClr val="0C182B"/>
                </a:solidFill>
                <a:latin typeface="Aptos"/>
              </a:defRPr>
            </a:pPr>
            <a:r>
              <a:t>Classification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50" b="0">
                <a:solidFill>
                  <a:srgbClr val="5F6D7D"/>
                </a:solidFill>
                <a:latin typeface="Aptos"/>
              </a:defRPr>
            </a:pPr>
            <a:r>
              <a:t>Performance on the unseen 300-image test set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53312"/>
            <a:ext cx="10972800" cy="0"/>
          </a:xfrm>
          <a:prstGeom prst="line">
            <a:avLst/>
          </a:prstGeom>
          <a:ln w="12700">
            <a:solidFill>
              <a:srgbClr val="D0D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58368" y="1691640"/>
            <a:ext cx="2971800" cy="4343400"/>
          </a:xfrm>
          <a:prstGeom prst="roundRect">
            <a:avLst/>
          </a:prstGeom>
          <a:solidFill>
            <a:srgbClr val="0C182B"/>
          </a:solidFill>
          <a:ln>
            <a:solidFill>
              <a:srgbClr val="0C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48840"/>
            <a:ext cx="242316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3800" b="1">
                <a:solidFill>
                  <a:srgbClr val="F8FAFC"/>
                </a:solidFill>
                <a:latin typeface="Aptos"/>
              </a:defRPr>
            </a:pPr>
            <a:r>
              <a:t>78.67%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944368"/>
            <a:ext cx="2423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1">
                <a:solidFill>
                  <a:srgbClr val="45C4D6"/>
                </a:solidFill>
                <a:latin typeface="Aptos"/>
              </a:defRPr>
            </a:pPr>
            <a:r>
              <a:t>TEST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703320"/>
            <a:ext cx="24231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ABBCCF"/>
                </a:solidFill>
                <a:latin typeface="Aptos"/>
              </a:defRPr>
            </a:pPr>
            <a:r>
              <a:t>ROC-AUC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986784"/>
            <a:ext cx="242316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400" b="1">
                <a:solidFill>
                  <a:srgbClr val="F8FAFC"/>
                </a:solidFill>
                <a:latin typeface="Aptos"/>
              </a:defRPr>
            </a:pPr>
            <a:r>
              <a:t>82.07%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846320"/>
            <a:ext cx="242316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0">
                <a:solidFill>
                  <a:srgbClr val="BACCDE"/>
                </a:solidFill>
                <a:latin typeface="Aptos"/>
              </a:defRPr>
            </a:pPr>
            <a:r>
              <a:t>Recall is slightly higher than precision,</a:t>
            </a:r>
            <a:br/>
            <a:r>
              <a:t>showing stronger sensitivity to Lung Opacity cases.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1810512"/>
            <a:ext cx="201168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77639" y="1810512"/>
            <a:ext cx="2011680" cy="109728"/>
          </a:xfrm>
          <a:prstGeom prst="rect">
            <a:avLst/>
          </a:prstGeom>
          <a:solidFill>
            <a:srgbClr val="2768AC"/>
          </a:solidFill>
          <a:ln>
            <a:solidFill>
              <a:srgbClr val="276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2231" y="2103120"/>
            <a:ext cx="1554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1">
                <a:solidFill>
                  <a:srgbClr val="5F6D7D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2231" y="2514600"/>
            <a:ext cx="15544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000" b="1">
                <a:solidFill>
                  <a:srgbClr val="0C182B"/>
                </a:solidFill>
                <a:latin typeface="Aptos"/>
              </a:defRPr>
            </a:pPr>
            <a:r>
              <a:t>76.88%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1810512"/>
            <a:ext cx="201168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59" y="1810512"/>
            <a:ext cx="2011680" cy="109728"/>
          </a:xfrm>
          <a:prstGeom prst="rect">
            <a:avLst/>
          </a:prstGeom>
          <a:solidFill>
            <a:srgbClr val="45C4D6"/>
          </a:solidFill>
          <a:ln>
            <a:solidFill>
              <a:srgbClr val="45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1" y="2103120"/>
            <a:ext cx="1554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1">
                <a:solidFill>
                  <a:srgbClr val="5F6D7D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1" y="2514600"/>
            <a:ext cx="15544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000" b="1">
                <a:solidFill>
                  <a:srgbClr val="0C182B"/>
                </a:solidFill>
                <a:latin typeface="Aptos"/>
              </a:defRPr>
            </a:pPr>
            <a:r>
              <a:t>82.00%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1810512"/>
            <a:ext cx="201168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41080" y="1810512"/>
            <a:ext cx="2011680" cy="109728"/>
          </a:xfrm>
          <a:prstGeom prst="rect">
            <a:avLst/>
          </a:prstGeom>
          <a:solidFill>
            <a:srgbClr val="2B8B63"/>
          </a:solidFill>
          <a:ln>
            <a:solidFill>
              <a:srgbClr val="2B8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05672" y="2103120"/>
            <a:ext cx="1554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1">
                <a:solidFill>
                  <a:srgbClr val="5F6D7D"/>
                </a:solidFill>
                <a:latin typeface="Aptos"/>
              </a:defRPr>
            </a:pPr>
            <a:r>
              <a:t>F1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5672" y="2514600"/>
            <a:ext cx="15544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000" b="1">
                <a:solidFill>
                  <a:srgbClr val="0C182B"/>
                </a:solidFill>
                <a:latin typeface="Aptos"/>
              </a:defRPr>
            </a:pPr>
            <a:r>
              <a:t>79.35%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77639" y="3456432"/>
            <a:ext cx="6903720" cy="2331720"/>
          </a:xfrm>
          <a:prstGeom prst="roundRect">
            <a:avLst/>
          </a:prstGeom>
          <a:solidFill>
            <a:srgbClr val="F1F5F9"/>
          </a:solidFill>
          <a:ln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24528" y="3657600"/>
            <a:ext cx="19202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0C182B"/>
                </a:solidFill>
                <a:latin typeface="Aptos"/>
              </a:defRPr>
            </a:pPr>
            <a:r>
              <a:t>Confusion matrix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4041648"/>
            <a:ext cx="1417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00" b="1">
                <a:solidFill>
                  <a:srgbClr val="5F6D7D"/>
                </a:solidFill>
                <a:latin typeface="Aptos"/>
              </a:defRPr>
            </a:pPr>
            <a:r>
              <a:t>Pred. Normal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041648"/>
            <a:ext cx="1417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00" b="1">
                <a:solidFill>
                  <a:srgbClr val="5F6D7D"/>
                </a:solidFill>
                <a:latin typeface="Aptos"/>
              </a:defRPr>
            </a:pPr>
            <a:r>
              <a:t>Pred. Opacity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87952" y="4224528"/>
            <a:ext cx="685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950" b="1">
                <a:solidFill>
                  <a:srgbClr val="5F6D7D"/>
                </a:solidFill>
                <a:latin typeface="Aptos"/>
              </a:defRPr>
            </a:pPr>
            <a:r>
              <a:t>Actual Normal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87952" y="4892040"/>
            <a:ext cx="685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950" b="1">
                <a:solidFill>
                  <a:srgbClr val="5F6D7D"/>
                </a:solidFill>
                <a:latin typeface="Aptos"/>
              </a:defRPr>
            </a:pPr>
            <a:r>
              <a:t>Actual Opacity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37760" y="4224528"/>
            <a:ext cx="1325880" cy="566928"/>
          </a:xfrm>
          <a:prstGeom prst="roundRect">
            <a:avLst/>
          </a:prstGeom>
          <a:solidFill>
            <a:srgbClr val="2B8B63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4315968"/>
            <a:ext cx="13258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  <a:latin typeface="Aptos"/>
              </a:defRPr>
            </a:pPr>
            <a:r>
              <a:t>113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4224528"/>
            <a:ext cx="1325880" cy="566928"/>
          </a:xfrm>
          <a:prstGeom prst="roundRect">
            <a:avLst/>
          </a:prstGeom>
          <a:solidFill>
            <a:srgbClr val="F6E0E0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4315968"/>
            <a:ext cx="13258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600" b="1">
                <a:solidFill>
                  <a:srgbClr val="212B36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37760" y="4892040"/>
            <a:ext cx="1325880" cy="566928"/>
          </a:xfrm>
          <a:prstGeom prst="roundRect">
            <a:avLst/>
          </a:prstGeom>
          <a:solidFill>
            <a:srgbClr val="F6E0E0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983479"/>
            <a:ext cx="13258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600" b="1">
                <a:solidFill>
                  <a:srgbClr val="212B36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892040"/>
            <a:ext cx="1325880" cy="566928"/>
          </a:xfrm>
          <a:prstGeom prst="roundRect">
            <a:avLst/>
          </a:prstGeom>
          <a:solidFill>
            <a:srgbClr val="2B8B63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4983479"/>
            <a:ext cx="13258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  <a:latin typeface="Aptos"/>
              </a:defRPr>
            </a:pPr>
            <a:r>
              <a:t>123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5276088"/>
            <a:ext cx="3749039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80" b="1">
                <a:solidFill>
                  <a:srgbClr val="5F6D7D"/>
                </a:solidFill>
                <a:latin typeface="Aptos"/>
              </a:defRPr>
            </a:pPr>
            <a:r>
              <a:t>Correct predictions on the diagonal: 113 Normal + 123 Lung Opacity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473952"/>
            <a:ext cx="6035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50" b="0">
                <a:solidFill>
                  <a:srgbClr val="5F6D7D"/>
                </a:solidFill>
                <a:latin typeface="Aptos"/>
              </a:defRPr>
            </a:pPr>
            <a:r>
              <a:t>UE24CS352A • Machine Learning Mini-Project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50" b="0">
                <a:solidFill>
                  <a:srgbClr val="5F6D7D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800" b="1">
                <a:solidFill>
                  <a:srgbClr val="0C182B"/>
                </a:solidFill>
                <a:latin typeface="Aptos"/>
              </a:defRPr>
            </a:pPr>
            <a:r>
              <a:t>From Classification to Localization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50" b="0">
                <a:solidFill>
                  <a:srgbClr val="5F6D7D"/>
                </a:solidFill>
                <a:latin typeface="Aptos"/>
              </a:defRPr>
            </a:pPr>
            <a:r>
              <a:t>Grad-CAM turns the CNN's decision into a spatial explanation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53312"/>
            <a:ext cx="10972800" cy="0"/>
          </a:xfrm>
          <a:prstGeom prst="line">
            <a:avLst/>
          </a:prstGeom>
          <a:ln w="12700">
            <a:solidFill>
              <a:srgbClr val="D0D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85800" y="1828800"/>
            <a:ext cx="3310128" cy="2834640"/>
          </a:xfrm>
          <a:prstGeom prst="roundRect">
            <a:avLst/>
          </a:prstGeom>
          <a:solidFill>
            <a:srgbClr val="F1F5F9"/>
          </a:solidFill>
          <a:ln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103120"/>
            <a:ext cx="502920" cy="502920"/>
          </a:xfrm>
          <a:prstGeom prst="ellipse">
            <a:avLst/>
          </a:prstGeom>
          <a:solidFill>
            <a:srgbClr val="2768AC"/>
          </a:solidFill>
          <a:ln>
            <a:solidFill>
              <a:srgbClr val="276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30552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1912" y="2084831"/>
            <a:ext cx="19202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0C182B"/>
                </a:solidFill>
                <a:latin typeface="Aptos"/>
              </a:defRPr>
            </a:pPr>
            <a:r>
              <a:t>CNN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278892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0">
                <a:solidFill>
                  <a:srgbClr val="212B36"/>
                </a:solidFill>
                <a:latin typeface="Aptos"/>
              </a:defRPr>
            </a:pPr>
            <a:r>
              <a:t>Select the Lung Opacity class score</a:t>
            </a:r>
            <a:br/>
            <a:r>
              <a:t>from the trained custom CNN.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95928" y="3246120"/>
            <a:ext cx="301752" cy="0"/>
          </a:xfrm>
          <a:prstGeom prst="line">
            <a:avLst/>
          </a:prstGeom>
          <a:ln w="25400">
            <a:solidFill>
              <a:srgbClr val="5F6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4206240" y="3154680"/>
            <a:ext cx="164592" cy="182880"/>
          </a:xfrm>
          <a:prstGeom prst="triangle">
            <a:avLst/>
          </a:prstGeom>
          <a:solidFill>
            <a:srgbClr val="5F6D7D"/>
          </a:solidFill>
          <a:ln>
            <a:solidFill>
              <a:srgbClr val="5F6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0" y="1828800"/>
            <a:ext cx="3310128" cy="2834640"/>
          </a:xfrm>
          <a:prstGeom prst="roundRect">
            <a:avLst/>
          </a:prstGeom>
          <a:solidFill>
            <a:srgbClr val="F1F5F9"/>
          </a:solidFill>
          <a:ln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09160" y="2103120"/>
            <a:ext cx="502920" cy="502920"/>
          </a:xfrm>
          <a:prstGeom prst="ellipse">
            <a:avLst/>
          </a:prstGeom>
          <a:solidFill>
            <a:srgbClr val="45C4D6"/>
          </a:solidFill>
          <a:ln>
            <a:solidFill>
              <a:srgbClr val="45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130552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0C182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6672" y="2084831"/>
            <a:ext cx="19202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0C182B"/>
                </a:solidFill>
                <a:latin typeface="Aptos"/>
              </a:defRPr>
            </a:pPr>
            <a:r>
              <a:t>Grad-CAM heatmap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880360"/>
            <a:ext cx="278892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0">
                <a:solidFill>
                  <a:srgbClr val="212B36"/>
                </a:solidFill>
                <a:latin typeface="Aptos"/>
              </a:defRPr>
            </a:pPr>
            <a:r>
              <a:t>Backpropagate through the final</a:t>
            </a:r>
            <a:br/>
            <a:r>
              <a:t>convolutional layer to get relevance.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90688" y="3246120"/>
            <a:ext cx="301752" cy="0"/>
          </a:xfrm>
          <a:prstGeom prst="line">
            <a:avLst/>
          </a:prstGeom>
          <a:ln w="25400">
            <a:solidFill>
              <a:srgbClr val="5F6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8001000" y="3154680"/>
            <a:ext cx="164592" cy="182880"/>
          </a:xfrm>
          <a:prstGeom prst="triangle">
            <a:avLst/>
          </a:prstGeom>
          <a:solidFill>
            <a:srgbClr val="5F6D7D"/>
          </a:solidFill>
          <a:ln>
            <a:solidFill>
              <a:srgbClr val="5F6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75320" y="1828800"/>
            <a:ext cx="3310128" cy="2834640"/>
          </a:xfrm>
          <a:prstGeom prst="roundRect">
            <a:avLst/>
          </a:prstGeom>
          <a:solidFill>
            <a:srgbClr val="F1F5F9"/>
          </a:solidFill>
          <a:ln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03920" y="2103120"/>
            <a:ext cx="502920" cy="502920"/>
          </a:xfrm>
          <a:prstGeom prst="ellipse">
            <a:avLst/>
          </a:prstGeom>
          <a:solidFill>
            <a:srgbClr val="2B8B63"/>
          </a:solidFill>
          <a:ln>
            <a:solidFill>
              <a:srgbClr val="2B8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2130552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1432" y="2084831"/>
            <a:ext cx="19202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0C182B"/>
                </a:solidFill>
                <a:latin typeface="Aptos"/>
              </a:defRPr>
            </a:pPr>
            <a:r>
              <a:t>Bounding box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880360"/>
            <a:ext cx="278892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0">
                <a:solidFill>
                  <a:srgbClr val="212B36"/>
                </a:solidFill>
                <a:latin typeface="Aptos"/>
              </a:defRPr>
            </a:pPr>
            <a:r>
              <a:t>Threshold the heatmap and convert the</a:t>
            </a:r>
            <a:br/>
            <a:r>
              <a:t>active region into a predicted box.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" y="5166360"/>
            <a:ext cx="10012680" cy="713232"/>
          </a:xfrm>
          <a:prstGeom prst="roundRect">
            <a:avLst/>
          </a:prstGeom>
          <a:solidFill>
            <a:srgbClr val="0C182B"/>
          </a:solidFill>
          <a:ln>
            <a:solidFill>
              <a:srgbClr val="0C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5330952"/>
            <a:ext cx="14630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AABED1"/>
                </a:solidFill>
                <a:latin typeface="Aptos"/>
              </a:defRPr>
            </a:pPr>
            <a:r>
              <a:t>Localization metric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5257800"/>
            <a:ext cx="402336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IoU = intersection area / union area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5303520"/>
            <a:ext cx="33832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45C4D6"/>
                </a:solidFill>
                <a:latin typeface="Aptos"/>
              </a:defRPr>
            </a:pPr>
            <a:r>
              <a:t>Higher overlap → better localization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6035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50" b="0">
                <a:solidFill>
                  <a:srgbClr val="5F6D7D"/>
                </a:solidFill>
                <a:latin typeface="Aptos"/>
              </a:defRPr>
            </a:pPr>
            <a:r>
              <a:t>UE24CS352A • Machine Learning Mini-Project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50" b="0">
                <a:solidFill>
                  <a:srgbClr val="5F6D7D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C4D6"/>
          </a:solidFill>
          <a:ln>
            <a:solidFill>
              <a:srgbClr val="45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Aptos"/>
              </a:defRPr>
            </a:pPr>
            <a:r>
              <a:t>Grad-CAM Threshold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50" b="0">
                <a:solidFill>
                  <a:srgbClr val="C1D0DF"/>
                </a:solidFill>
                <a:latin typeface="Aptos"/>
              </a:defRPr>
            </a:pPr>
            <a:r>
              <a:t>Threshold sweep on the same 20-case localization sample; 16 cases predicted positive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353312"/>
            <a:ext cx="10972800" cy="0"/>
          </a:xfrm>
          <a:prstGeom prst="line">
            <a:avLst/>
          </a:prstGeom>
          <a:ln w="12700">
            <a:solidFill>
              <a:srgbClr val="45C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1965960"/>
            <a:ext cx="6492240" cy="3611880"/>
          </a:xfrm>
          <a:prstGeom prst="roundRect">
            <a:avLst/>
          </a:prstGeom>
          <a:solidFill>
            <a:srgbClr val="142640"/>
          </a:solidFill>
          <a:ln>
            <a:solidFill>
              <a:srgbClr val="36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914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1">
                <a:solidFill>
                  <a:srgbClr val="B6C7D8"/>
                </a:solidFill>
                <a:latin typeface="Aptos"/>
              </a:defRPr>
            </a:pPr>
            <a:r>
              <a:t>Mean IoU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17320" y="5138928"/>
            <a:ext cx="5577840" cy="0"/>
          </a:xfrm>
          <a:prstGeom prst="line">
            <a:avLst/>
          </a:prstGeom>
          <a:ln w="15240">
            <a:solidFill>
              <a:srgbClr val="5F7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417320" y="2514600"/>
            <a:ext cx="0" cy="2624328"/>
          </a:xfrm>
          <a:prstGeom prst="line">
            <a:avLst/>
          </a:prstGeom>
          <a:ln w="15240">
            <a:solidFill>
              <a:srgbClr val="5F7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17320" y="5138928"/>
            <a:ext cx="5577840" cy="0"/>
          </a:xfrm>
          <a:prstGeom prst="line">
            <a:avLst/>
          </a:prstGeom>
          <a:ln w="8890">
            <a:solidFill>
              <a:srgbClr val="3448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41832" y="5029200"/>
            <a:ext cx="38404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50" b="0">
                <a:solidFill>
                  <a:srgbClr val="A6B9CD"/>
                </a:solidFill>
                <a:latin typeface="Aptos"/>
              </a:defRPr>
            </a:pPr>
            <a:r>
              <a:t>0.14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7320" y="4264152"/>
            <a:ext cx="5577840" cy="0"/>
          </a:xfrm>
          <a:prstGeom prst="line">
            <a:avLst/>
          </a:prstGeom>
          <a:ln w="8890">
            <a:solidFill>
              <a:srgbClr val="3448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41832" y="4154424"/>
            <a:ext cx="38404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50" b="0">
                <a:solidFill>
                  <a:srgbClr val="A6B9CD"/>
                </a:solidFill>
                <a:latin typeface="Aptos"/>
              </a:defRPr>
            </a:pPr>
            <a:r>
              <a:t>0.16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17320" y="3389376"/>
            <a:ext cx="5577840" cy="0"/>
          </a:xfrm>
          <a:prstGeom prst="line">
            <a:avLst/>
          </a:prstGeom>
          <a:ln w="8890">
            <a:solidFill>
              <a:srgbClr val="3448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41832" y="3279648"/>
            <a:ext cx="38404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50" b="0">
                <a:solidFill>
                  <a:srgbClr val="A6B9CD"/>
                </a:solidFill>
                <a:latin typeface="Aptos"/>
              </a:defRPr>
            </a:pPr>
            <a:r>
              <a:t>0.18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417320" y="2514600"/>
            <a:ext cx="5577840" cy="0"/>
          </a:xfrm>
          <a:prstGeom prst="line">
            <a:avLst/>
          </a:prstGeom>
          <a:ln w="8890">
            <a:solidFill>
              <a:srgbClr val="3448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41832" y="2404872"/>
            <a:ext cx="38404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50" b="0">
                <a:solidFill>
                  <a:srgbClr val="A6B9CD"/>
                </a:solidFill>
                <a:latin typeface="Aptos"/>
              </a:defRPr>
            </a:pPr>
            <a:r>
              <a:t>0.20</a:t>
            </a:r>
          </a:p>
        </p:txBody>
      </p:sp>
      <p:sp>
        <p:nvSpPr>
          <p:cNvPr id="18" name="Oval 17"/>
          <p:cNvSpPr/>
          <p:nvPr/>
        </p:nvSpPr>
        <p:spPr>
          <a:xfrm>
            <a:off x="1344168" y="2978254"/>
            <a:ext cx="146304" cy="146304"/>
          </a:xfrm>
          <a:prstGeom prst="ellipse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5257800"/>
            <a:ext cx="3657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1">
                <a:solidFill>
                  <a:srgbClr val="B3C4D6"/>
                </a:solidFill>
                <a:latin typeface="Aptos"/>
              </a:defRPr>
            </a:pPr>
            <a:r>
              <a:t>0.3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2722222"/>
            <a:ext cx="6858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50" b="1">
                <a:solidFill>
                  <a:srgbClr val="F8FAFC"/>
                </a:solidFill>
                <a:latin typeface="Aptos"/>
              </a:defRPr>
            </a:pPr>
            <a:r>
              <a:t>0.1877</a:t>
            </a:r>
          </a:p>
        </p:txBody>
      </p:sp>
      <p:sp>
        <p:nvSpPr>
          <p:cNvPr id="21" name="Oval 20"/>
          <p:cNvSpPr/>
          <p:nvPr/>
        </p:nvSpPr>
        <p:spPr>
          <a:xfrm>
            <a:off x="2738628" y="2933378"/>
            <a:ext cx="146304" cy="146304"/>
          </a:xfrm>
          <a:prstGeom prst="ellipse">
            <a:avLst/>
          </a:prstGeom>
          <a:solidFill>
            <a:srgbClr val="45C4D6"/>
          </a:solidFill>
          <a:ln>
            <a:solidFill>
              <a:srgbClr val="45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28900" y="5257800"/>
            <a:ext cx="3657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t>0.4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73452" y="2677346"/>
            <a:ext cx="6858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50" b="1">
                <a:solidFill>
                  <a:srgbClr val="45C4D6"/>
                </a:solidFill>
                <a:latin typeface="Aptos"/>
              </a:defRPr>
            </a:pPr>
            <a:r>
              <a:t>0.1888</a:t>
            </a:r>
          </a:p>
        </p:txBody>
      </p:sp>
      <p:sp>
        <p:nvSpPr>
          <p:cNvPr id="24" name="Oval 23"/>
          <p:cNvSpPr/>
          <p:nvPr/>
        </p:nvSpPr>
        <p:spPr>
          <a:xfrm>
            <a:off x="4133088" y="3564879"/>
            <a:ext cx="146304" cy="146304"/>
          </a:xfrm>
          <a:prstGeom prst="ellipse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0" y="5257800"/>
            <a:ext cx="3657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1">
                <a:solidFill>
                  <a:srgbClr val="B3C4D6"/>
                </a:solidFill>
                <a:latin typeface="Aptos"/>
              </a:defRPr>
            </a:pPr>
            <a:r>
              <a:t>0.5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67912" y="3308847"/>
            <a:ext cx="6858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50" b="1">
                <a:solidFill>
                  <a:srgbClr val="F8FAFC"/>
                </a:solidFill>
                <a:latin typeface="Aptos"/>
              </a:defRPr>
            </a:pPr>
            <a:r>
              <a:t>0.1743</a:t>
            </a:r>
          </a:p>
        </p:txBody>
      </p:sp>
      <p:sp>
        <p:nvSpPr>
          <p:cNvPr id="27" name="Oval 26"/>
          <p:cNvSpPr/>
          <p:nvPr/>
        </p:nvSpPr>
        <p:spPr>
          <a:xfrm>
            <a:off x="5527548" y="4585830"/>
            <a:ext cx="146304" cy="146304"/>
          </a:xfrm>
          <a:prstGeom prst="ellipse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17820" y="5257800"/>
            <a:ext cx="3657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1">
                <a:solidFill>
                  <a:srgbClr val="B3C4D6"/>
                </a:solidFill>
                <a:latin typeface="Aptos"/>
              </a:defRPr>
            </a:pPr>
            <a:r>
              <a:t>0.6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2372" y="4329798"/>
            <a:ext cx="6858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50" b="1">
                <a:solidFill>
                  <a:srgbClr val="F8FAFC"/>
                </a:solidFill>
                <a:latin typeface="Aptos"/>
              </a:defRPr>
            </a:pPr>
            <a:r>
              <a:t>0.1510</a:t>
            </a:r>
          </a:p>
        </p:txBody>
      </p:sp>
      <p:sp>
        <p:nvSpPr>
          <p:cNvPr id="30" name="Oval 29"/>
          <p:cNvSpPr/>
          <p:nvPr/>
        </p:nvSpPr>
        <p:spPr>
          <a:xfrm>
            <a:off x="6922008" y="4441535"/>
            <a:ext cx="146304" cy="146304"/>
          </a:xfrm>
          <a:prstGeom prst="ellipse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5257800"/>
            <a:ext cx="3657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1">
                <a:solidFill>
                  <a:srgbClr val="B3C4D6"/>
                </a:solidFill>
                <a:latin typeface="Aptos"/>
              </a:defRPr>
            </a:pPr>
            <a:r>
              <a:t>0.7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6832" y="4185503"/>
            <a:ext cx="6858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50" b="1">
                <a:solidFill>
                  <a:srgbClr val="F8FAFC"/>
                </a:solidFill>
                <a:latin typeface="Aptos"/>
              </a:defRPr>
            </a:pPr>
            <a:r>
              <a:t>0.1543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1417320" y="3006530"/>
            <a:ext cx="1394460" cy="44876"/>
          </a:xfrm>
          <a:prstGeom prst="line">
            <a:avLst/>
          </a:prstGeom>
          <a:ln w="27940">
            <a:solidFill>
              <a:srgbClr val="45C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811780" y="3006530"/>
            <a:ext cx="1394460" cy="631501"/>
          </a:xfrm>
          <a:prstGeom prst="line">
            <a:avLst/>
          </a:prstGeom>
          <a:ln w="27940">
            <a:solidFill>
              <a:srgbClr val="45C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206240" y="3638031"/>
            <a:ext cx="1394460" cy="1020951"/>
          </a:xfrm>
          <a:prstGeom prst="line">
            <a:avLst/>
          </a:prstGeom>
          <a:ln w="27940">
            <a:solidFill>
              <a:srgbClr val="45C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600700" y="4514687"/>
            <a:ext cx="1394460" cy="144295"/>
          </a:xfrm>
          <a:prstGeom prst="line">
            <a:avLst/>
          </a:prstGeom>
          <a:ln w="27940">
            <a:solidFill>
              <a:srgbClr val="45C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726679" y="1965960"/>
            <a:ext cx="3611880" cy="361188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28431" y="2267712"/>
            <a:ext cx="11887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5F6D7D"/>
                </a:solidFill>
                <a:latin typeface="Aptos"/>
              </a:defRPr>
            </a:pPr>
            <a:r>
              <a:t>Best setting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28431" y="2651760"/>
            <a:ext cx="16459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3200" b="1">
                <a:solidFill>
                  <a:srgbClr val="0C182B"/>
                </a:solidFill>
                <a:latin typeface="Aptos"/>
              </a:defRPr>
            </a:pPr>
            <a:r>
              <a:t>0.4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28431" y="3429000"/>
            <a:ext cx="1371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50" b="1">
                <a:solidFill>
                  <a:srgbClr val="5F6D7D"/>
                </a:solidFill>
                <a:latin typeface="Aptos"/>
              </a:defRPr>
            </a:pPr>
            <a:r>
              <a:t>Mean IoU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28431" y="3685032"/>
            <a:ext cx="18288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400" b="1">
                <a:solidFill>
                  <a:srgbClr val="2768AC"/>
                </a:solidFill>
                <a:latin typeface="Aptos"/>
              </a:defRPr>
            </a:pPr>
            <a:r>
              <a:t>0.1888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28431" y="4416552"/>
            <a:ext cx="1645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50" b="1">
                <a:solidFill>
                  <a:srgbClr val="5F6D7D"/>
                </a:solidFill>
                <a:latin typeface="Aptos"/>
              </a:defRPr>
            </a:pPr>
            <a:r>
              <a:t>Why this matters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4681728"/>
            <a:ext cx="278892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50" b="0">
                <a:solidFill>
                  <a:srgbClr val="212B36"/>
                </a:solidFill>
                <a:latin typeface="Aptos"/>
              </a:defRPr>
            </a:pPr>
            <a:r>
              <a:t>The threshold is a tunable post-processing</a:t>
            </a:r>
            <a:br/>
            <a:r>
              <a:t>choice: higher is not automatically better.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473952"/>
            <a:ext cx="6035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50" b="0">
                <a:solidFill>
                  <a:srgbClr val="A6B7C9"/>
                </a:solidFill>
                <a:latin typeface="Aptos"/>
              </a:defRPr>
            </a:pPr>
            <a:r>
              <a:t>UE24CS352A • Machine Learning Mini-Project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50" b="0">
                <a:solidFill>
                  <a:srgbClr val="A6B7C9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800" b="1">
                <a:solidFill>
                  <a:srgbClr val="0C182B"/>
                </a:solidFill>
                <a:latin typeface="Aptos"/>
              </a:defRPr>
            </a:pPr>
            <a:r>
              <a:t>What do the final numbers say?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50" b="0">
                <a:solidFill>
                  <a:srgbClr val="5F6D7D"/>
                </a:solidFill>
                <a:latin typeface="Aptos"/>
              </a:defRPr>
            </a:pPr>
            <a:r>
              <a:t>Strongest signal: classification is substantially better than localization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53312"/>
            <a:ext cx="10972800" cy="0"/>
          </a:xfrm>
          <a:prstGeom prst="line">
            <a:avLst/>
          </a:prstGeom>
          <a:ln w="12700">
            <a:solidFill>
              <a:srgbClr val="D0D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58368" y="1737360"/>
            <a:ext cx="5285232" cy="4297680"/>
          </a:xfrm>
          <a:prstGeom prst="roundRect">
            <a:avLst/>
          </a:prstGeom>
          <a:solidFill>
            <a:srgbClr val="F1F5F9"/>
          </a:solidFill>
          <a:ln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00" b="1">
                <a:solidFill>
                  <a:srgbClr val="2768AC"/>
                </a:solidFill>
                <a:latin typeface="Aptos"/>
              </a:defRPr>
            </a:pPr>
            <a:r>
              <a:t>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1945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3100" b="1">
                <a:solidFill>
                  <a:srgbClr val="0C182B"/>
                </a:solidFill>
                <a:latin typeface="Aptos"/>
              </a:defRPr>
            </a:pPr>
            <a:r>
              <a:t>78.67%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99232"/>
            <a:ext cx="21945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5F6D7D"/>
                </a:solidFill>
                <a:latin typeface="Aptos"/>
              </a:defRPr>
            </a:pPr>
            <a:r>
              <a:t>test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11887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50" b="1">
                <a:solidFill>
                  <a:srgbClr val="212B36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3520440"/>
            <a:ext cx="11430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050" b="1">
                <a:solidFill>
                  <a:srgbClr val="0C182B"/>
                </a:solidFill>
                <a:latin typeface="Aptos"/>
              </a:defRPr>
            </a:pPr>
            <a:r>
              <a:t>76.88%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" y="3822191"/>
            <a:ext cx="2468880" cy="0"/>
          </a:xfrm>
          <a:prstGeom prst="line">
            <a:avLst/>
          </a:prstGeom>
          <a:ln w="10160">
            <a:solidFill>
              <a:srgbClr val="D0D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3959352"/>
            <a:ext cx="11887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50" b="1">
                <a:solidFill>
                  <a:srgbClr val="212B36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3959352"/>
            <a:ext cx="11430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050" b="1">
                <a:solidFill>
                  <a:srgbClr val="0C182B"/>
                </a:solidFill>
                <a:latin typeface="Aptos"/>
              </a:defRPr>
            </a:pPr>
            <a:r>
              <a:t>82.00%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4261104"/>
            <a:ext cx="2468880" cy="0"/>
          </a:xfrm>
          <a:prstGeom prst="line">
            <a:avLst/>
          </a:prstGeom>
          <a:ln w="10160">
            <a:solidFill>
              <a:srgbClr val="D0D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4398264"/>
            <a:ext cx="11887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50" b="1">
                <a:solidFill>
                  <a:srgbClr val="212B36"/>
                </a:solidFill>
                <a:latin typeface="Aptos"/>
              </a:defRPr>
            </a:pPr>
            <a:r>
              <a:t>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4398264"/>
            <a:ext cx="11430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050" b="1">
                <a:solidFill>
                  <a:srgbClr val="0C182B"/>
                </a:solidFill>
                <a:latin typeface="Aptos"/>
              </a:defRPr>
            </a:pPr>
            <a:r>
              <a:t>79.35%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4700016"/>
            <a:ext cx="2468880" cy="0"/>
          </a:xfrm>
          <a:prstGeom prst="line">
            <a:avLst/>
          </a:prstGeom>
          <a:ln w="10160">
            <a:solidFill>
              <a:srgbClr val="D0D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" y="4837176"/>
            <a:ext cx="11887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50" b="1">
                <a:solidFill>
                  <a:srgbClr val="212B36"/>
                </a:solidFill>
                <a:latin typeface="Aptos"/>
              </a:defRPr>
            </a:pPr>
            <a:r>
              <a:t>ROC-AUC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837176"/>
            <a:ext cx="11430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050" b="1">
                <a:solidFill>
                  <a:srgbClr val="0C182B"/>
                </a:solidFill>
                <a:latin typeface="Aptos"/>
              </a:defRPr>
            </a:pPr>
            <a:r>
              <a:t>82.07%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" y="5138928"/>
            <a:ext cx="2468880" cy="0"/>
          </a:xfrm>
          <a:prstGeom prst="line">
            <a:avLst/>
          </a:prstGeom>
          <a:ln w="10160">
            <a:solidFill>
              <a:srgbClr val="D0D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63640" y="1737360"/>
            <a:ext cx="5257800" cy="4297680"/>
          </a:xfrm>
          <a:prstGeom prst="roundRect">
            <a:avLst/>
          </a:prstGeom>
          <a:solidFill>
            <a:srgbClr val="0C182B"/>
          </a:solidFill>
          <a:ln>
            <a:solidFill>
              <a:srgbClr val="0C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1993392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00" b="1">
                <a:solidFill>
                  <a:srgbClr val="45C4D6"/>
                </a:solidFill>
                <a:latin typeface="Aptos"/>
              </a:defRPr>
            </a:pPr>
            <a:r>
              <a:t>Localization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487168"/>
            <a:ext cx="228600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3100" b="1">
                <a:solidFill>
                  <a:srgbClr val="F8FAFC"/>
                </a:solidFill>
                <a:latin typeface="Aptos"/>
              </a:defRPr>
            </a:pPr>
            <a:r>
              <a:t>0.1888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008376"/>
            <a:ext cx="29260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>
                <a:solidFill>
                  <a:srgbClr val="B1C3D6"/>
                </a:solidFill>
                <a:latin typeface="Aptos"/>
              </a:defRPr>
            </a:pPr>
            <a:r>
              <a:t>mean IoU @ threshold 0.4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584448"/>
            <a:ext cx="14630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50" b="1">
                <a:solidFill>
                  <a:srgbClr val="ADBED0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895344"/>
            <a:ext cx="416052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The CNN learned a useful</a:t>
            </a:r>
            <a:br/>
            <a:r>
              <a:t>classification signal, while</a:t>
            </a:r>
            <a:br/>
            <a:r>
              <a:t>localization remains the harder</a:t>
            </a:r>
            <a:br/>
            <a:r>
              <a:t>part of the pipeline.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60" y="5166360"/>
            <a:ext cx="4160520" cy="530352"/>
          </a:xfrm>
          <a:prstGeom prst="roundRect">
            <a:avLst/>
          </a:prstGeom>
          <a:solidFill>
            <a:srgbClr val="142640"/>
          </a:solidFill>
          <a:ln>
            <a:solidFill>
              <a:srgbClr val="3C5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5330952"/>
            <a:ext cx="3749039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50" b="1">
                <a:solidFill>
                  <a:srgbClr val="45C4D6"/>
                </a:solidFill>
                <a:latin typeface="Aptos"/>
              </a:defRPr>
            </a:pPr>
            <a:r>
              <a:t>Next step → improve localization robustness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6035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50" b="0">
                <a:solidFill>
                  <a:srgbClr val="5F6D7D"/>
                </a:solidFill>
                <a:latin typeface="Aptos"/>
              </a:defRPr>
            </a:pPr>
            <a:r>
              <a:t>UE24CS352A • Machine Learning Mini-Project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50" b="0">
                <a:solidFill>
                  <a:srgbClr val="5F6D7D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800" b="1">
                <a:solidFill>
                  <a:srgbClr val="0C182B"/>
                </a:solidFill>
                <a:latin typeface="Aptos"/>
              </a:defRPr>
            </a:pPr>
            <a: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50" b="0">
                <a:solidFill>
                  <a:srgbClr val="5F6D7D"/>
                </a:solidFill>
                <a:latin typeface="Aptos"/>
              </a:defRPr>
            </a:pPr>
            <a:r>
              <a:t>What we would improve with more time and compute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53312"/>
            <a:ext cx="10972800" cy="0"/>
          </a:xfrm>
          <a:prstGeom prst="line">
            <a:avLst/>
          </a:prstGeom>
          <a:ln w="12700">
            <a:solidFill>
              <a:srgbClr val="D0D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783080"/>
            <a:ext cx="5166360" cy="4343400"/>
          </a:xfrm>
          <a:prstGeom prst="roundRect">
            <a:avLst/>
          </a:prstGeom>
          <a:solidFill>
            <a:srgbClr val="F1F5F9"/>
          </a:solidFill>
          <a:ln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5166360" cy="128016"/>
          </a:xfrm>
          <a:prstGeom prst="rect">
            <a:avLst/>
          </a:prstGeom>
          <a:solidFill>
            <a:srgbClr val="DB8934"/>
          </a:solidFill>
          <a:ln>
            <a:solidFill>
              <a:srgbClr val="DB8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075688"/>
            <a:ext cx="4389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600" b="1">
                <a:solidFill>
                  <a:srgbClr val="0C182B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8" name="Oval 7"/>
          <p:cNvSpPr/>
          <p:nvPr/>
        </p:nvSpPr>
        <p:spPr>
          <a:xfrm>
            <a:off x="1042416" y="2743200"/>
            <a:ext cx="128016" cy="128016"/>
          </a:xfrm>
          <a:prstGeom prst="ellipse">
            <a:avLst/>
          </a:prstGeom>
          <a:solidFill>
            <a:srgbClr val="DB8934"/>
          </a:solidFill>
          <a:ln>
            <a:solidFill>
              <a:srgbClr val="DB8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2633472"/>
            <a:ext cx="4160520" cy="58521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0">
                <a:solidFill>
                  <a:srgbClr val="212B36"/>
                </a:solidFill>
                <a:latin typeface="Aptos"/>
              </a:defRPr>
            </a:pPr>
            <a:r>
              <a:t>Subset of 2,000 images rather than the complete dataset.</a:t>
            </a:r>
          </a:p>
        </p:txBody>
      </p:sp>
      <p:sp>
        <p:nvSpPr>
          <p:cNvPr id="10" name="Oval 9"/>
          <p:cNvSpPr/>
          <p:nvPr/>
        </p:nvSpPr>
        <p:spPr>
          <a:xfrm>
            <a:off x="1042416" y="3584448"/>
            <a:ext cx="128016" cy="128016"/>
          </a:xfrm>
          <a:prstGeom prst="ellipse">
            <a:avLst/>
          </a:prstGeom>
          <a:solidFill>
            <a:srgbClr val="DB8934"/>
          </a:solidFill>
          <a:ln>
            <a:solidFill>
              <a:srgbClr val="DB8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3474720"/>
            <a:ext cx="4160520" cy="58521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0">
                <a:solidFill>
                  <a:srgbClr val="212B36"/>
                </a:solidFill>
                <a:latin typeface="Aptos"/>
              </a:defRPr>
            </a:pPr>
            <a:r>
              <a:t>Localization evaluated on a limited set of test cases.</a:t>
            </a:r>
          </a:p>
        </p:txBody>
      </p:sp>
      <p:sp>
        <p:nvSpPr>
          <p:cNvPr id="12" name="Oval 11"/>
          <p:cNvSpPr/>
          <p:nvPr/>
        </p:nvSpPr>
        <p:spPr>
          <a:xfrm>
            <a:off x="1042416" y="4425696"/>
            <a:ext cx="128016" cy="128016"/>
          </a:xfrm>
          <a:prstGeom prst="ellipse">
            <a:avLst/>
          </a:prstGeom>
          <a:solidFill>
            <a:srgbClr val="DB8934"/>
          </a:solidFill>
          <a:ln>
            <a:solidFill>
              <a:srgbClr val="DB8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98448" y="4315968"/>
            <a:ext cx="4160520" cy="58521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0">
                <a:solidFill>
                  <a:srgbClr val="212B36"/>
                </a:solidFill>
                <a:latin typeface="Aptos"/>
              </a:defRPr>
            </a:pPr>
            <a:r>
              <a:t>Grad-CAM boxes are indirect explanations, not a dedicated detector.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783080"/>
            <a:ext cx="5166360" cy="4343400"/>
          </a:xfrm>
          <a:prstGeom prst="roundRect">
            <a:avLst/>
          </a:prstGeom>
          <a:solidFill>
            <a:srgbClr val="F1F5F9"/>
          </a:solidFill>
          <a:ln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783080"/>
            <a:ext cx="5166360" cy="128016"/>
          </a:xfrm>
          <a:prstGeom prst="rect">
            <a:avLst/>
          </a:prstGeom>
          <a:solidFill>
            <a:srgbClr val="2B8B63"/>
          </a:solidFill>
          <a:ln>
            <a:solidFill>
              <a:srgbClr val="2B8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3408" y="2075688"/>
            <a:ext cx="4389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600" b="1">
                <a:solidFill>
                  <a:srgbClr val="0C182B"/>
                </a:solidFill>
                <a:latin typeface="Aptos"/>
              </a:defRPr>
            </a:pPr>
            <a:r>
              <a:t>Future work</a:t>
            </a:r>
          </a:p>
        </p:txBody>
      </p:sp>
      <p:sp>
        <p:nvSpPr>
          <p:cNvPr id="17" name="Oval 16"/>
          <p:cNvSpPr/>
          <p:nvPr/>
        </p:nvSpPr>
        <p:spPr>
          <a:xfrm>
            <a:off x="6711696" y="2743200"/>
            <a:ext cx="128016" cy="128016"/>
          </a:xfrm>
          <a:prstGeom prst="ellipse">
            <a:avLst/>
          </a:prstGeom>
          <a:solidFill>
            <a:srgbClr val="2B8B63"/>
          </a:solidFill>
          <a:ln>
            <a:solidFill>
              <a:srgbClr val="2B8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7728" y="2633472"/>
            <a:ext cx="4160520" cy="58521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0">
                <a:solidFill>
                  <a:srgbClr val="212B36"/>
                </a:solidFill>
                <a:latin typeface="Aptos"/>
              </a:defRPr>
            </a:pPr>
            <a:r>
              <a:t>Scale training to the full available dataset.</a:t>
            </a:r>
          </a:p>
        </p:txBody>
      </p:sp>
      <p:sp>
        <p:nvSpPr>
          <p:cNvPr id="19" name="Oval 18"/>
          <p:cNvSpPr/>
          <p:nvPr/>
        </p:nvSpPr>
        <p:spPr>
          <a:xfrm>
            <a:off x="6711696" y="3584448"/>
            <a:ext cx="128016" cy="128016"/>
          </a:xfrm>
          <a:prstGeom prst="ellipse">
            <a:avLst/>
          </a:prstGeom>
          <a:solidFill>
            <a:srgbClr val="2B8B63"/>
          </a:solidFill>
          <a:ln>
            <a:solidFill>
              <a:srgbClr val="2B8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3474720"/>
            <a:ext cx="4160520" cy="58521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0">
                <a:solidFill>
                  <a:srgbClr val="212B36"/>
                </a:solidFill>
                <a:latin typeface="Aptos"/>
              </a:defRPr>
            </a:pPr>
            <a:r>
              <a:t>Increase localization evaluation coverage.</a:t>
            </a:r>
          </a:p>
        </p:txBody>
      </p:sp>
      <p:sp>
        <p:nvSpPr>
          <p:cNvPr id="21" name="Oval 20"/>
          <p:cNvSpPr/>
          <p:nvPr/>
        </p:nvSpPr>
        <p:spPr>
          <a:xfrm>
            <a:off x="6711696" y="4425696"/>
            <a:ext cx="128016" cy="128016"/>
          </a:xfrm>
          <a:prstGeom prst="ellipse">
            <a:avLst/>
          </a:prstGeom>
          <a:solidFill>
            <a:srgbClr val="2B8B63"/>
          </a:solidFill>
          <a:ln>
            <a:solidFill>
              <a:srgbClr val="2B8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4315968"/>
            <a:ext cx="4160520" cy="58521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0">
                <a:solidFill>
                  <a:srgbClr val="212B36"/>
                </a:solidFill>
                <a:latin typeface="Aptos"/>
              </a:defRPr>
            </a:pPr>
            <a:r>
              <a:t>Explore stronger CNN designs and more robust localization post-processing.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6336792"/>
            <a:ext cx="100584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50" b="1">
                <a:solidFill>
                  <a:srgbClr val="0C182B"/>
                </a:solidFill>
                <a:latin typeface="Aptos"/>
              </a:defRPr>
            </a:pPr>
            <a:r>
              <a:t>Bottom line: this project establishes a clean, reproducible from-scratch baseline.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6035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50" b="0">
                <a:solidFill>
                  <a:srgbClr val="5F6D7D"/>
                </a:solidFill>
                <a:latin typeface="Aptos"/>
              </a:defRPr>
            </a:pPr>
            <a:r>
              <a:t>UE24CS352A • Machine Learning Mini-Project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50" b="0">
                <a:solidFill>
                  <a:srgbClr val="5F6D7D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5C4D6"/>
          </a:solidFill>
          <a:ln>
            <a:solidFill>
              <a:srgbClr val="45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Aptos"/>
              </a:defRPr>
            </a:pPr>
            <a:r>
              <a:t>Live Demo — 3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50" b="0">
                <a:solidFill>
                  <a:srgbClr val="C1D0DF"/>
                </a:solidFill>
                <a:latin typeface="Aptos"/>
              </a:defRPr>
            </a:pPr>
            <a:r>
              <a:t>Show the pipeline, then the evidence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353312"/>
            <a:ext cx="10972800" cy="0"/>
          </a:xfrm>
          <a:prstGeom prst="line">
            <a:avLst/>
          </a:prstGeom>
          <a:ln w="12700">
            <a:solidFill>
              <a:srgbClr val="45C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868680" y="1828800"/>
            <a:ext cx="530352" cy="530352"/>
          </a:xfrm>
          <a:prstGeom prst="ellipse">
            <a:avLst/>
          </a:prstGeom>
          <a:solidFill>
            <a:srgbClr val="45C4D6"/>
          </a:solidFill>
          <a:ln>
            <a:solidFill>
              <a:srgbClr val="45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56231"/>
            <a:ext cx="53035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0C182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8488" y="1810512"/>
            <a:ext cx="21945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Open notebook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8488" y="2194560"/>
            <a:ext cx="411480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0">
                <a:solidFill>
                  <a:srgbClr val="BECFDE"/>
                </a:solidFill>
                <a:latin typeface="Aptos"/>
              </a:defRPr>
            </a:pPr>
            <a:r>
              <a:t>Show dataset path, custom CNN, and no-pretraining constraint.</a:t>
            </a:r>
          </a:p>
        </p:txBody>
      </p:sp>
      <p:sp>
        <p:nvSpPr>
          <p:cNvPr id="10" name="Oval 9"/>
          <p:cNvSpPr/>
          <p:nvPr/>
        </p:nvSpPr>
        <p:spPr>
          <a:xfrm>
            <a:off x="6355080" y="1828800"/>
            <a:ext cx="530352" cy="530352"/>
          </a:xfrm>
          <a:prstGeom prst="ellipse">
            <a:avLst/>
          </a:prstGeom>
          <a:solidFill>
            <a:srgbClr val="45C4D6"/>
          </a:solidFill>
          <a:ln>
            <a:solidFill>
              <a:srgbClr val="45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856231"/>
            <a:ext cx="53035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0C182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4888" y="1810512"/>
            <a:ext cx="21945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4888" y="2194560"/>
            <a:ext cx="411480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0">
                <a:solidFill>
                  <a:srgbClr val="BECFDE"/>
                </a:solidFill>
                <a:latin typeface="Aptos"/>
              </a:defRPr>
            </a:pPr>
            <a:r>
              <a:t>Show test metrics + confusion matrix.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749039"/>
            <a:ext cx="530352" cy="530352"/>
          </a:xfrm>
          <a:prstGeom prst="ellipse">
            <a:avLst/>
          </a:prstGeom>
          <a:solidFill>
            <a:srgbClr val="45C4D6"/>
          </a:solidFill>
          <a:ln>
            <a:solidFill>
              <a:srgbClr val="45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776472"/>
            <a:ext cx="53035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0C182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8488" y="3730752"/>
            <a:ext cx="21945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Localization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18488" y="4114800"/>
            <a:ext cx="411480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0">
                <a:solidFill>
                  <a:srgbClr val="BECFDE"/>
                </a:solidFill>
                <a:latin typeface="Aptos"/>
              </a:defRPr>
            </a:pPr>
            <a:r>
              <a:t>Show one Grad-CAM heatmap and predicted box.</a:t>
            </a:r>
          </a:p>
        </p:txBody>
      </p:sp>
      <p:sp>
        <p:nvSpPr>
          <p:cNvPr id="18" name="Oval 17"/>
          <p:cNvSpPr/>
          <p:nvPr/>
        </p:nvSpPr>
        <p:spPr>
          <a:xfrm>
            <a:off x="6355080" y="3749039"/>
            <a:ext cx="530352" cy="530352"/>
          </a:xfrm>
          <a:prstGeom prst="ellipse">
            <a:avLst/>
          </a:prstGeom>
          <a:solidFill>
            <a:srgbClr val="45C4D6"/>
          </a:solidFill>
          <a:ln>
            <a:solidFill>
              <a:srgbClr val="45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776472"/>
            <a:ext cx="53035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0C182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4888" y="3730752"/>
            <a:ext cx="21945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Threshold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4888" y="4114800"/>
            <a:ext cx="411480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0">
                <a:solidFill>
                  <a:srgbClr val="BECFDE"/>
                </a:solidFill>
                <a:latin typeface="Aptos"/>
              </a:defRPr>
            </a:pPr>
            <a:r>
              <a:t>Show threshold table/plot and the 0.4 selection.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8680" y="5925312"/>
            <a:ext cx="10424160" cy="0"/>
          </a:xfrm>
          <a:prstGeom prst="line">
            <a:avLst/>
          </a:prstGeom>
          <a:ln w="12700">
            <a:solidFill>
              <a:srgbClr val="415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96112" y="6108192"/>
            <a:ext cx="14173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1">
                <a:solidFill>
                  <a:srgbClr val="9BB1C5"/>
                </a:solidFill>
                <a:latin typeface="Aptos"/>
              </a:defRPr>
            </a:pPr>
            <a:r>
              <a:t>Closing message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6080760"/>
            <a:ext cx="7955279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>
                <a:solidFill>
                  <a:srgbClr val="45C4D6"/>
                </a:solidFill>
                <a:latin typeface="Aptos"/>
              </a:defRPr>
            </a:pPr>
            <a:r>
              <a:t>Classification works well; localization is the main area for improvement.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6035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50" b="0">
                <a:solidFill>
                  <a:srgbClr val="A6B7C9"/>
                </a:solidFill>
                <a:latin typeface="Aptos"/>
              </a:defRPr>
            </a:pPr>
            <a:r>
              <a:t>UE24CS352A • Machine Learning Mini-Project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850" b="0">
                <a:solidFill>
                  <a:srgbClr val="A6B7C9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